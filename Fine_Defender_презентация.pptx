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51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Fine Defender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E3D4EF"/>
                </a:solidFill>
                <a:latin typeface="Segoe UI Light"/>
              </a:rPr>
              <a:t>Автоматический «Защитник от штрафов» для селлеров Wildberries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B3DC"/>
                </a:solidFill>
                <a:latin typeface="Segoe UI"/>
              </a:rPr>
              <a:t>Находим оспоримые штрафы, считаем дедлайны и готовим претензии — вы возвращаете деньги.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Маркетплейс списывает — вы узнаёте последним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6766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211B2E"/>
                </a:solidFill>
                <a:latin typeface="Segoe UI"/>
              </a:rPr>
              <a:t>WB удерживает штрафы прямо с баланса: повышенная логистика по обмерам, маркировка, брак при приёмке.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211B2E"/>
                </a:solidFill>
                <a:latin typeface="Segoe UI"/>
              </a:rPr>
              <a:t>Селлер узнаёт о списании постфактум — когда деньги уже ушли.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211B2E"/>
                </a:solidFill>
                <a:latin typeface="Segoe UI"/>
              </a:rPr>
              <a:t>Окно на оспаривание узкое: пропустил срок — потерял право на возврат.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211B2E"/>
                </a:solidFill>
                <a:latin typeface="Segoe UI"/>
              </a:rPr>
              <a:t>Доказательства приходится собирать вручную по каждому штрафу.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103120"/>
            <a:ext cx="3749039" cy="310896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423160"/>
            <a:ext cx="32004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B11AB"/>
                </a:solidFill>
                <a:latin typeface="Segoe UI"/>
              </a:rPr>
              <a:t>Итог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4A1D6A"/>
                </a:solidFill>
                <a:latin typeface="Segoe UI"/>
              </a:rPr>
              <a:t>Значимая доля отпоримых штрафов просто теряется — процесс реактивный и ручной.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Fine Defender делает рутину за вас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6B6B76"/>
                </a:solidFill>
                <a:latin typeface="Segoe UI"/>
              </a:rPr>
              <a:t>Подключаете кабинет в режиме «только чтение» — сервис сам находит штрафы и готовит всё для возврата.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80360"/>
            <a:ext cx="2670048" cy="283464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80360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154679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1D6A"/>
                </a:solidFill>
                <a:latin typeface="Segoe UI"/>
              </a:rPr>
              <a:t>1  Находит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840480"/>
            <a:ext cx="226771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11B2E"/>
                </a:solidFill>
                <a:latin typeface="Segoe UI"/>
              </a:rPr>
              <a:t>Выгружает финансовый отчёт и выделяет оспоримые штрафы среди сотен транзакций.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880360"/>
            <a:ext cx="2670048" cy="283464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880360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3154679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1D6A"/>
                </a:solidFill>
                <a:latin typeface="Segoe UI"/>
              </a:rPr>
              <a:t>2  Считает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840480"/>
            <a:ext cx="226771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11B2E"/>
                </a:solidFill>
                <a:latin typeface="Segoe UI"/>
              </a:rPr>
              <a:t>Определяет дедлайн оспаривания и оценивает сумму к возврату.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670048" cy="283464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880360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154679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1D6A"/>
                </a:solidFill>
                <a:latin typeface="Segoe UI"/>
              </a:rPr>
              <a:t>3  Готовит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840480"/>
            <a:ext cx="226771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11B2E"/>
                </a:solidFill>
                <a:latin typeface="Segoe UI"/>
              </a:rPr>
              <a:t>Формирует черновик претензии и чек-лист нужных доказательств.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880360"/>
            <a:ext cx="2670048" cy="283464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2880360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3154679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A1D6A"/>
                </a:solidFill>
                <a:latin typeface="Segoe UI"/>
              </a:rPr>
              <a:t>4  Контролирует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3840480"/>
            <a:ext cx="226771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11B2E"/>
                </a:solidFill>
                <a:latin typeface="Segoe UI"/>
              </a:rPr>
              <a:t>Дашборд с горящими сроками и накопленной суммой «отбито ₽».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76"/>
                </a:solidFill>
                <a:latin typeface="Segoe UI"/>
              </a:rPr>
              <a:t>Финальную подачу делает оператор — </a:t>
            </a:r>
            <a:r>
              <a:rPr sz="1400" b="1">
                <a:solidFill>
                  <a:srgbClr val="CB11AB"/>
                </a:solidFill>
                <a:latin typeface="Segoe UI"/>
              </a:rPr>
              <a:t>вы ничем не рискуете.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Весь путь — от кабинета до готовой претензии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" y="2834640"/>
            <a:ext cx="1874519" cy="1463040"/>
          </a:xfrm>
          <a:prstGeom prst="round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3035808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Кабинет WB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3584448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CDDF5"/>
                </a:solidFill>
                <a:latin typeface="Segoe UI"/>
              </a:rPr>
              <a:t>токен только на чтение</a:t>
            </a:r>
          </a:p>
        </p:txBody>
      </p:sp>
      <p:sp>
        <p:nvSpPr>
          <p:cNvPr id="8" name="Chevron 7"/>
          <p:cNvSpPr/>
          <p:nvPr/>
        </p:nvSpPr>
        <p:spPr>
          <a:xfrm>
            <a:off x="2415387" y="3291840"/>
            <a:ext cx="365760" cy="548640"/>
          </a:xfrm>
          <a:prstGeom prst="chevron">
            <a:avLst/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6867" y="2834640"/>
            <a:ext cx="1874519" cy="1463040"/>
          </a:xfrm>
          <a:prstGeom prst="round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8307" y="3035808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Сбор отчёта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8307" y="3584448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CDDF5"/>
                </a:solidFill>
                <a:latin typeface="Segoe UI"/>
              </a:rPr>
              <a:t>выгрузка отчёта о реализации</a:t>
            </a:r>
          </a:p>
        </p:txBody>
      </p:sp>
      <p:sp>
        <p:nvSpPr>
          <p:cNvPr id="12" name="Chevron 11"/>
          <p:cNvSpPr/>
          <p:nvPr/>
        </p:nvSpPr>
        <p:spPr>
          <a:xfrm>
            <a:off x="4747107" y="3291840"/>
            <a:ext cx="365760" cy="548640"/>
          </a:xfrm>
          <a:prstGeom prst="chevron">
            <a:avLst/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8587" y="2834640"/>
            <a:ext cx="1874519" cy="1463040"/>
          </a:xfrm>
          <a:prstGeom prst="round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0027" y="3035808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Классификация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027" y="3584448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CDDF5"/>
                </a:solidFill>
                <a:latin typeface="Segoe UI"/>
              </a:rPr>
              <a:t>выделение оспоримых штрафов</a:t>
            </a:r>
          </a:p>
        </p:txBody>
      </p:sp>
      <p:sp>
        <p:nvSpPr>
          <p:cNvPr id="16" name="Chevron 15"/>
          <p:cNvSpPr/>
          <p:nvPr/>
        </p:nvSpPr>
        <p:spPr>
          <a:xfrm>
            <a:off x="7078827" y="3291840"/>
            <a:ext cx="365760" cy="548640"/>
          </a:xfrm>
          <a:prstGeom prst="chevron">
            <a:avLst/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0307" y="2834640"/>
            <a:ext cx="1874519" cy="1463040"/>
          </a:xfrm>
          <a:prstGeom prst="round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1747" y="3035808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Дедлайны + черновик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1747" y="3584448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CDDF5"/>
                </a:solidFill>
                <a:latin typeface="Segoe UI"/>
              </a:rPr>
              <a:t>расчёт срока и претензия</a:t>
            </a:r>
          </a:p>
        </p:txBody>
      </p:sp>
      <p:sp>
        <p:nvSpPr>
          <p:cNvPr id="20" name="Chevron 19"/>
          <p:cNvSpPr/>
          <p:nvPr/>
        </p:nvSpPr>
        <p:spPr>
          <a:xfrm>
            <a:off x="9410547" y="3291840"/>
            <a:ext cx="365760" cy="548640"/>
          </a:xfrm>
          <a:prstGeom prst="chevron">
            <a:avLst/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2027" y="2834640"/>
            <a:ext cx="1874519" cy="1463040"/>
          </a:xfrm>
          <a:prstGeom prst="round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3467" y="3035808"/>
            <a:ext cx="16916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Дашборд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3467" y="3584448"/>
            <a:ext cx="1691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CDDF5"/>
                </a:solidFill>
                <a:latin typeface="Segoe UI"/>
              </a:rPr>
              <a:t>контроль и «отбито ₽»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11B2E"/>
                </a:solidFill>
                <a:latin typeface="Segoe UI"/>
              </a:rPr>
              <a:t>Автоматизированы шаги 1–5. </a:t>
            </a:r>
            <a:r>
              <a:rPr sz="1500" b="0">
                <a:solidFill>
                  <a:srgbClr val="6B6B76"/>
                </a:solidFill>
                <a:latin typeface="Segoe UI"/>
              </a:rPr>
              <a:t>Подача претензии в WB — вручную оператором (concierge-модель MVP).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ПОД КАПОТОМ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Как сервис отличает оспоримый штраф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CB11AB"/>
                </a:solidFill>
                <a:latin typeface="Segoe UI"/>
              </a:rPr>
              <a:t>—  </a:t>
            </a:r>
            <a:r>
              <a:rPr sz="1650" b="0">
                <a:solidFill>
                  <a:srgbClr val="211B2E"/>
                </a:solidFill>
                <a:latin typeface="Segoe UI"/>
              </a:rPr>
              <a:t>Берёт транзакции, где есть удержание или штраф.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CB11AB"/>
                </a:solidFill>
                <a:latin typeface="Segoe UI"/>
              </a:rPr>
              <a:t>—  </a:t>
            </a:r>
            <a:r>
              <a:rPr sz="1650" b="0">
                <a:solidFill>
                  <a:srgbClr val="211B2E"/>
                </a:solidFill>
                <a:latin typeface="Segoe UI"/>
              </a:rPr>
              <a:t>По формулировке причины определяет тип штрафа.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CB11AB"/>
                </a:solidFill>
                <a:latin typeface="Segoe UI"/>
              </a:rPr>
              <a:t>—  </a:t>
            </a:r>
            <a:r>
              <a:rPr sz="1650" b="0">
                <a:solidFill>
                  <a:srgbClr val="211B2E"/>
                </a:solidFill>
                <a:latin typeface="Segoe UI"/>
              </a:rPr>
              <a:t>На старте — «повышенная логистика по результатам обмеров» (несоответствие реальных габаритов карточке).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CB11AB"/>
                </a:solidFill>
                <a:latin typeface="Segoe UI"/>
              </a:rPr>
              <a:t>—  </a:t>
            </a:r>
            <a:r>
              <a:rPr sz="1650" b="0">
                <a:solidFill>
                  <a:srgbClr val="211B2E"/>
                </a:solidFill>
                <a:latin typeface="Segoe UI"/>
              </a:rPr>
              <a:t>Для оспоримых считает дедлайн = дата начисления + окно, и оценку возврата.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CB11AB"/>
                </a:solidFill>
                <a:latin typeface="Segoe UI"/>
              </a:rPr>
              <a:t>—  </a:t>
            </a:r>
            <a:r>
              <a:rPr sz="1650" b="0">
                <a:solidFill>
                  <a:srgbClr val="211B2E"/>
                </a:solidFill>
                <a:latin typeface="Segoe UI"/>
              </a:rPr>
              <a:t>Остальные штрафы сохраняет для аналитики и будущих типов.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2103120"/>
            <a:ext cx="3840480" cy="338328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3317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Примеры формулировок 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788920"/>
            <a:ext cx="3337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4A1D6A"/>
                </a:solidFill>
                <a:latin typeface="Segoe UI"/>
              </a:rPr>
              <a:t>«Превышение габаритов по результатам обмера»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4A1D6A"/>
                </a:solidFill>
                <a:latin typeface="Segoe UI"/>
              </a:rPr>
              <a:t>«Несоответствие размеров товара карточке»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4A1D6A"/>
                </a:solidFill>
                <a:latin typeface="Segoe UI"/>
              </a:rPr>
              <a:t>«Габариты не соответствуют заявленным»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  <a:latin typeface="Segoe UI"/>
              </a:rPr>
              <a:t>Правила и пороги вынесены в конфиг — новые типы штрафов добавляются без переписывания логики.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КЛЮЧЕВАЯ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Ни один срок не сгорит незаметно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031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920240"/>
                <a:gridCol w="201168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Товар</a:t>
                      </a:r>
                    </a:p>
                  </a:txBody>
                  <a:tcPr anchor="ctr" marL="109728" marT="27432" marB="27432">
                    <a:solidFill>
                      <a:srgbClr val="4A1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Сумма</a:t>
                      </a:r>
                    </a:p>
                  </a:txBody>
                  <a:tcPr anchor="ctr" marL="109728" marT="27432" marB="27432">
                    <a:solidFill>
                      <a:srgbClr val="4A1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Дедлайн</a:t>
                      </a:r>
                    </a:p>
                  </a:txBody>
                  <a:tcPr anchor="ctr" marL="109728" marT="27432" marB="27432">
                    <a:solidFill>
                      <a:srgbClr val="4A1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Segoe UI"/>
                        </a:rPr>
                        <a:t>Состояние</a:t>
                      </a:r>
                    </a:p>
                  </a:txBody>
                  <a:tcPr anchor="ctr" marL="109728" marT="27432" marB="27432">
                    <a:solidFill>
                      <a:srgbClr val="4A1D6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Полка настенная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1B2E"/>
                          </a:solidFill>
                          <a:latin typeface="Segoe UI"/>
                        </a:rPr>
                        <a:t>780,00 ₽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20.05.2026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6336C"/>
                          </a:solidFill>
                          <a:latin typeface="Segoe UI"/>
                        </a:rPr>
                        <a:t>Просрочен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Коробка для хранения 50 л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1B2E"/>
                          </a:solidFill>
                          <a:latin typeface="Segoe UI"/>
                        </a:rPr>
                        <a:t>1 050,00 ₽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05.06.2026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8A317"/>
                          </a:solidFill>
                          <a:latin typeface="Segoe UI"/>
                        </a:rPr>
                        <a:t>Горит — 2 дня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Органайзер для кухни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1B2E"/>
                          </a:solidFill>
                          <a:latin typeface="Segoe UI"/>
                        </a:rPr>
                        <a:t>1 480,00 ₽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19.06.2026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9D55"/>
                          </a:solidFill>
                          <a:latin typeface="Segoe UI"/>
                        </a:rPr>
                        <a:t>В запасе — 16 дней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Кашпо для цветов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1B2E"/>
                          </a:solidFill>
                          <a:latin typeface="Segoe UI"/>
                        </a:rPr>
                        <a:t>920,50 ₽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21.06.2026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9D55"/>
                          </a:solidFill>
                          <a:latin typeface="Segoe UI"/>
                        </a:rPr>
                        <a:t>В запасе — 18 дней</a:t>
                      </a:r>
                    </a:p>
                  </a:txBody>
                  <a:tcPr anchor="ctr" marL="109728" marT="27432" marB="27432">
                    <a:solidFill>
                      <a:srgbClr val="F5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Сушилка для белья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1B2E"/>
                          </a:solidFill>
                          <a:latin typeface="Segoe UI"/>
                        </a:rPr>
                        <a:t>2 310,00 ₽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11B2E"/>
                          </a:solidFill>
                          <a:latin typeface="Segoe UI"/>
                        </a:rPr>
                        <a:t>01.07.2026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9D55"/>
                          </a:solidFill>
                          <a:latin typeface="Segoe UI"/>
                        </a:rPr>
                        <a:t>В запасе — 28 дней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6692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76"/>
                </a:solidFill>
                <a:latin typeface="Segoe UI"/>
              </a:rPr>
              <a:t>Сервис сортирует штрафы по близости срока и подсвечивает горящие и просроченные.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ПРИМЕР НА ОТЧЁТЕ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Segoe UI"/>
              </a:rPr>
              <a:t>Один недельный отчёт — тысячи рублей под возврат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2670048" cy="2377440"/>
          </a:xfrm>
          <a:prstGeom prst="roundRect">
            <a:avLst/>
          </a:prstGeom>
          <a:solidFill>
            <a:srgbClr val="5C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736592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3957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23042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9C6E8"/>
                </a:solidFill>
                <a:latin typeface="Segoe UI"/>
              </a:rPr>
              <a:t>строк в отчёте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68880"/>
            <a:ext cx="2670048" cy="2377440"/>
          </a:xfrm>
          <a:prstGeom prst="roundRect">
            <a:avLst/>
          </a:prstGeom>
          <a:solidFill>
            <a:srgbClr val="5C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4736592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23957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977639"/>
            <a:ext cx="23042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9C6E8"/>
                </a:solidFill>
                <a:latin typeface="Segoe UI"/>
              </a:rPr>
              <a:t>оспоримых штрафов найдено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68880"/>
            <a:ext cx="2670048" cy="2377440"/>
          </a:xfrm>
          <a:prstGeom prst="roundRect">
            <a:avLst/>
          </a:prstGeom>
          <a:solidFill>
            <a:srgbClr val="5C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4736592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23957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6 540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23042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9C6E8"/>
                </a:solidFill>
                <a:latin typeface="Segoe UI"/>
              </a:rPr>
              <a:t>потенциал возврата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468880"/>
            <a:ext cx="2670048" cy="2377440"/>
          </a:xfrm>
          <a:prstGeom prst="roundRect">
            <a:avLst/>
          </a:prstGeom>
          <a:solidFill>
            <a:srgbClr val="5C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4736592"/>
            <a:ext cx="2670048" cy="109728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880360"/>
            <a:ext cx="23957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2 дня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977639"/>
            <a:ext cx="23042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9C6E8"/>
                </a:solidFill>
                <a:latin typeface="Segoe UI"/>
              </a:rPr>
              <a:t>до ближайшего дедлайна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578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ACD6"/>
                </a:solidFill>
                <a:latin typeface="Segoe UI"/>
              </a:rPr>
              <a:t>Пример на демо-данных со структурой реального финансового отчёта Wildberries.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ДОКУМЕНТ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Черновик претензии — автоматически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6126480" cy="4023360"/>
          </a:xfrm>
          <a:prstGeom prst="roundRect">
            <a:avLst/>
          </a:prstGeom>
          <a:solidFill>
            <a:srgbClr val="F5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5577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4A1D6A"/>
                </a:solidFill>
                <a:latin typeface="Segoe UI"/>
              </a:rPr>
              <a:t>Претензия об оспаривании штрафа за повышенную логистику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6B76"/>
                </a:solidFill>
                <a:latin typeface="Segoe UI"/>
              </a:rPr>
              <a:t>Транзакция: 200105 · Артикул: 88010005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6B76"/>
                </a:solidFill>
                <a:latin typeface="Segoe UI"/>
              </a:rPr>
              <a:t>Дата начисления: 20.04.2026 · Сумма: 780,00 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6B76"/>
                </a:solidFill>
                <a:latin typeface="Segoe UI"/>
              </a:rPr>
              <a:t>Основание: «Габариты не соответствуют заявленным (обмер)»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211B2E"/>
                </a:solidFill>
                <a:latin typeface="Segoe UI"/>
              </a:rPr>
              <a:t>Прошу пересмотреть результат обмера, отменить штраф и вернуть удержанные средства на баланс продавца. Фактические габариты товара соответствуют заявленным в карточке; подтверждающие материалы приложены.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057400"/>
            <a:ext cx="4434840" cy="402336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286000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B11AB"/>
                </a:solidFill>
                <a:latin typeface="Segoe UI"/>
              </a:rPr>
              <a:t>Чек-лист доказательств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788920"/>
            <a:ext cx="3931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✓  </a:t>
            </a:r>
            <a:r>
              <a:rPr sz="1300" b="0">
                <a:solidFill>
                  <a:srgbClr val="211B2E"/>
                </a:solidFill>
                <a:latin typeface="Segoe UI"/>
              </a:rPr>
              <a:t>Фото товара с измерительной лентой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✓  </a:t>
            </a:r>
            <a:r>
              <a:rPr sz="1300" b="0">
                <a:solidFill>
                  <a:srgbClr val="211B2E"/>
                </a:solidFill>
                <a:latin typeface="Segoe UI"/>
              </a:rPr>
              <a:t>Фото упаковки с лентой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✓  </a:t>
            </a:r>
            <a:r>
              <a:rPr sz="1300" b="0">
                <a:solidFill>
                  <a:srgbClr val="211B2E"/>
                </a:solidFill>
                <a:latin typeface="Segoe UI"/>
              </a:rPr>
              <a:t>Упаковочный лист / спецификация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✓  </a:t>
            </a:r>
            <a:r>
              <a:rPr sz="1300" b="0">
                <a:solidFill>
                  <a:srgbClr val="211B2E"/>
                </a:solidFill>
                <a:latin typeface="Segoe UI"/>
              </a:rPr>
              <a:t>Скриншот карточки с габаритами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✓  </a:t>
            </a:r>
            <a:r>
              <a:rPr sz="1300" b="0">
                <a:solidFill>
                  <a:srgbClr val="211B2E"/>
                </a:solidFill>
                <a:latin typeface="Segoe UI"/>
              </a:rPr>
              <a:t>Видео процесса замера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6B76"/>
                </a:solidFill>
                <a:latin typeface="Segoe UI"/>
              </a:rPr>
              <a:t>Текст и чек-лист настраиваются под каждый тип штрафа.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Ваш токен и данные под защитой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128016" cy="178308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Только чтение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11B2E"/>
                </a:solidFill>
                <a:latin typeface="Segoe UI"/>
              </a:rPr>
              <a:t>Сервис запрашивает read-доступ (категория «Финансы») и ничего не меняет в вашем кабинете.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19456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2194560"/>
            <a:ext cx="128016" cy="178308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242316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Шифрование токена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9718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11B2E"/>
                </a:solidFill>
                <a:latin typeface="Segoe UI"/>
              </a:rPr>
              <a:t>Токен хранится в зашифрованном виде и никогда не попадает в логи.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5196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51960"/>
            <a:ext cx="128016" cy="178308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Хостинг в РФ · 152-ФЗ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11B2E"/>
                </a:solidFill>
                <a:latin typeface="Segoe UI"/>
              </a:rPr>
              <a:t>Данные и инфраструктура размещены у российского провайдера.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25196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4251960"/>
            <a:ext cx="128016" cy="178308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399" y="448056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Без дублей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50292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11B2E"/>
                </a:solidFill>
                <a:latin typeface="Segoe UI"/>
              </a:rPr>
              <a:t>Повторные выгрузки идемпотентны — не плодят дубликаты и не искажают суммы.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ПОДКЛЮЧЕНИЕ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Старт за 3 шага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3520440" cy="274320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868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Выпускаете токен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11B2E"/>
                </a:solidFill>
                <a:latin typeface="Segoe UI"/>
              </a:rPr>
              <a:t>В кабинете WB создаёте API-токен только на чтение (категория «Финансы»).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77440"/>
            <a:ext cx="3520440" cy="274320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697480"/>
            <a:ext cx="868680" cy="868680"/>
          </a:xfrm>
          <a:prstGeom prst="ellipse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61488"/>
            <a:ext cx="868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Передаёте нам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11B2E"/>
                </a:solidFill>
                <a:latin typeface="Segoe UI"/>
              </a:rPr>
              <a:t>Заводим ваш кабинет — токен сразу шифруется и хранится защищённо.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77440"/>
            <a:ext cx="3520440" cy="2743200"/>
          </a:xfrm>
          <a:prstGeom prst="roundRect">
            <a:avLst/>
          </a:prstGeom>
          <a:solidFill>
            <a:srgbClr val="EE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9640" y="2697480"/>
            <a:ext cx="868680" cy="868680"/>
          </a:xfrm>
          <a:prstGeom prst="ellipse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761488"/>
            <a:ext cx="868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749039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A1D6A"/>
                </a:solidFill>
                <a:latin typeface="Segoe UI"/>
              </a:rPr>
              <a:t>Видите штрафы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11B2E"/>
                </a:solidFill>
                <a:latin typeface="Segoe UI"/>
              </a:rPr>
              <a:t>Сервис выгружает отчёт и показывает найденные оспоримые штрафы в дашборде.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11B2E"/>
                </a:solidFill>
                <a:latin typeface="Segoe UI"/>
              </a:rPr>
              <a:t>Первые найденные штрафы — </a:t>
            </a:r>
            <a:r>
              <a:rPr sz="1600" b="1">
                <a:solidFill>
                  <a:srgbClr val="CB11AB"/>
                </a:solidFill>
                <a:latin typeface="Segoe UI"/>
              </a:rPr>
              <a:t>в день подключения.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МОДЕЛЬ ОПЛАТЫ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Платите только за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egoe UI Light"/>
              </a:rPr>
              <a:t>Success fee — процент от средств, которые удалось фактически отбить.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E3D4EF"/>
                </a:solidFill>
                <a:latin typeface="Segoe UI"/>
              </a:rPr>
              <a:t>Нет возврата — нет оплаты.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E3D4EF"/>
                </a:solidFill>
                <a:latin typeface="Segoe UI"/>
              </a:rPr>
              <a:t>Прозрачно: в дашборде видно «под возврат» и «отбито ₽».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CB11AB"/>
                </a:solidFill>
                <a:latin typeface="Segoe UI"/>
              </a:rPr>
              <a:t>—  </a:t>
            </a:r>
            <a:r>
              <a:rPr sz="1800" b="0">
                <a:solidFill>
                  <a:srgbClr val="E3D4EF"/>
                </a:solidFill>
                <a:latin typeface="Segoe UI"/>
              </a:rPr>
              <a:t>Интересы совпадают — мы зарабатываем, только когда зарабатываете вы.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11AB"/>
                </a:solidFill>
                <a:latin typeface="Segoe UI"/>
              </a:rPr>
              <a:t>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77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211B2E"/>
                </a:solidFill>
                <a:latin typeface="Segoe UI"/>
              </a:rPr>
              <a:t>Куда движется сервис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28016" cy="109728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B11AB"/>
                </a:solidFill>
                <a:latin typeface="Segoe UI"/>
              </a:rPr>
              <a:t>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211B2E"/>
                </a:solidFill>
                <a:latin typeface="Segoe UI"/>
              </a:rPr>
              <a:t>Штрафы за повышенную логистику по результатам обмеров.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611880"/>
            <a:ext cx="128016" cy="1097280"/>
          </a:xfrm>
          <a:prstGeom prst="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4A1D6A"/>
                </a:solidFill>
                <a:latin typeface="Segoe UI"/>
              </a:rPr>
              <a:t>Далее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61188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211B2E"/>
                </a:solidFill>
                <a:latin typeface="Segoe UI"/>
              </a:rPr>
              <a:t>Новые типы штрафов и авто-подготовка повторяющихся претензий.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937760"/>
            <a:ext cx="128016" cy="1097280"/>
          </a:xfrm>
          <a:prstGeom prst="rect">
            <a:avLst/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B6B76"/>
                </a:solidFill>
                <a:latin typeface="Segoe UI"/>
              </a:rPr>
              <a:t>Перспектива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93776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211B2E"/>
                </a:solidFill>
                <a:latin typeface="Segoe UI"/>
              </a:rPr>
              <a:t>По мере подтверждения — авто-подача и предиктивные сценарии.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26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  <a:latin typeface="Segoe UI"/>
              </a:rPr>
              <a:t>Начинаем с одного типа штрафа и расширяемся по результату — без раздувания функционала.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Посмотрите свои штрафы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3D4EF"/>
                </a:solidFill>
                <a:latin typeface="Segoe UI Light"/>
              </a:rPr>
              <a:t>Бесплатный разбор: подключим кабинет в режиме чтения и покажем найденные оспоримые штрафы по вашему ассортименту.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46320"/>
            <a:ext cx="4206240" cy="822960"/>
          </a:xfrm>
          <a:prstGeom prst="roundRect">
            <a:avLst/>
          </a:prstGeom>
          <a:solidFill>
            <a:srgbClr val="CB1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Fine Defender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2ACD6"/>
                </a:solidFill>
                <a:latin typeface="Segoe UI"/>
              </a:rPr>
              <a:t>Защитник от штрафов для селлеров Wildberries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